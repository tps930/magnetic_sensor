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302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3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77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6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97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45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98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41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93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85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13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603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49164-EA50-4232-8E44-6F6F4F2B12F4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8A3F3-EAB4-4221-9197-25F59F2DD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30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정육면체 7"/>
          <p:cNvSpPr/>
          <p:nvPr/>
        </p:nvSpPr>
        <p:spPr>
          <a:xfrm>
            <a:off x="467544" y="4257092"/>
            <a:ext cx="1152128" cy="504056"/>
          </a:xfrm>
          <a:prstGeom prst="cube">
            <a:avLst>
              <a:gd name="adj" fmla="val 6234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1</a:t>
            </a:r>
            <a:endParaRPr lang="ko-KR" altLang="en-US" sz="1600" dirty="0">
              <a:solidFill>
                <a:schemeClr val="tx1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9" name="정육면체 8"/>
          <p:cNvSpPr/>
          <p:nvPr/>
        </p:nvSpPr>
        <p:spPr>
          <a:xfrm>
            <a:off x="4427984" y="4257092"/>
            <a:ext cx="1152128" cy="504056"/>
          </a:xfrm>
          <a:prstGeom prst="cube">
            <a:avLst>
              <a:gd name="adj" fmla="val 6234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2</a:t>
            </a:r>
            <a:endParaRPr lang="ko-KR" altLang="en-US" sz="1600" dirty="0">
              <a:solidFill>
                <a:schemeClr val="tx1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cxnSp>
        <p:nvCxnSpPr>
          <p:cNvPr id="11" name="꺾인 연결선 10"/>
          <p:cNvCxnSpPr>
            <a:stCxn id="8" idx="3"/>
            <a:endCxn id="9" idx="3"/>
          </p:cNvCxnSpPr>
          <p:nvPr/>
        </p:nvCxnSpPr>
        <p:spPr>
          <a:xfrm rot="16200000" flipH="1">
            <a:off x="2866691" y="2780928"/>
            <a:ext cx="12700" cy="3960440"/>
          </a:xfrm>
          <a:prstGeom prst="bentConnector3">
            <a:avLst>
              <a:gd name="adj1" fmla="val 3917646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51720" y="5337212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지자기 센서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marL="268288" indent="-179388">
              <a:buFont typeface="Arial" pitchFamily="34" charset="0"/>
              <a:buChar char="•"/>
            </a:pP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일정 간격 배치</a:t>
            </a:r>
            <a:endParaRPr lang="en-US" altLang="ko-KR" dirty="0">
              <a:latin typeface="KoPub돋움체 Bold" pitchFamily="18" charset="-127"/>
              <a:ea typeface="KoPub돋움체 Bold" pitchFamily="18" charset="-127"/>
            </a:endParaRPr>
          </a:p>
          <a:p>
            <a:pPr marL="268288" indent="-179388">
              <a:buFont typeface="Arial" pitchFamily="34" charset="0"/>
              <a:buChar char="•"/>
            </a:pP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간격은 조정 가능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14" name="정육면체 13"/>
          <p:cNvSpPr/>
          <p:nvPr/>
        </p:nvSpPr>
        <p:spPr>
          <a:xfrm>
            <a:off x="5580112" y="3275272"/>
            <a:ext cx="3691535" cy="720080"/>
          </a:xfrm>
          <a:prstGeom prst="cube">
            <a:avLst>
              <a:gd name="adj" fmla="val 4936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철판</a:t>
            </a:r>
            <a:r>
              <a:rPr lang="en-US" altLang="ko-KR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차량 대체</a:t>
            </a:r>
            <a:r>
              <a:rPr lang="en-US" altLang="ko-KR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15" name="왼쪽 화살표 14"/>
          <p:cNvSpPr/>
          <p:nvPr/>
        </p:nvSpPr>
        <p:spPr>
          <a:xfrm>
            <a:off x="107504" y="3510720"/>
            <a:ext cx="5010856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철판 이동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15" y="0"/>
            <a:ext cx="82089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차량 속도 측정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(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안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) </a:t>
            </a:r>
          </a:p>
          <a:p>
            <a:pPr marL="268288" indent="-179388">
              <a:buFont typeface="Arial" pitchFamily="34" charset="0"/>
              <a:buChar char="•"/>
            </a:pPr>
            <a:r>
              <a:rPr lang="en-US" altLang="ko-KR" dirty="0"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지자기센서 위로 철판 이동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(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차량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)</a:t>
            </a:r>
          </a:p>
          <a:p>
            <a:pPr marL="268288" indent="-179388">
              <a:buFont typeface="Arial" pitchFamily="34" charset="0"/>
              <a:buChar char="•"/>
            </a:pP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지자기센서 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1,2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번의 차량 이동 감지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marL="268288" indent="-179388">
              <a:buFont typeface="Arial" pitchFamily="34" charset="0"/>
              <a:buChar char="•"/>
            </a:pPr>
            <a:r>
              <a:rPr lang="en-US" altLang="ko-KR" dirty="0"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1,2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번의 차량 이동 감지 시간 차이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,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 센서간 거리를 고려하여 차량 속도로 변환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교통량 측정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marL="268288" indent="-179388">
              <a:buFont typeface="Arial" pitchFamily="34" charset="0"/>
              <a:buChar char="•"/>
            </a:pPr>
            <a:r>
              <a:rPr lang="en-US" altLang="ko-KR" dirty="0"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차량 이동 감지를 카운트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(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단 카운트 주기 확정 필요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)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0" y="2636912"/>
            <a:ext cx="9540552" cy="38884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0" y="2636912"/>
            <a:ext cx="3059832" cy="28803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도로교통정보 센서 구성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(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안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)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395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07504" y="3861048"/>
            <a:ext cx="5688632" cy="1872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도로교통안전센서</a:t>
            </a:r>
            <a:endParaRPr lang="ko-KR" altLang="en-US">
              <a:solidFill>
                <a:schemeClr val="tx1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4" name="정육면체 3"/>
          <p:cNvSpPr/>
          <p:nvPr/>
        </p:nvSpPr>
        <p:spPr>
          <a:xfrm>
            <a:off x="467544" y="4257092"/>
            <a:ext cx="1152128" cy="504056"/>
          </a:xfrm>
          <a:prstGeom prst="cube">
            <a:avLst>
              <a:gd name="adj" fmla="val 6234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2</a:t>
            </a:r>
            <a:endParaRPr lang="ko-KR" altLang="en-US" sz="1600" dirty="0">
              <a:solidFill>
                <a:schemeClr val="tx1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5" name="정육면체 4"/>
          <p:cNvSpPr/>
          <p:nvPr/>
        </p:nvSpPr>
        <p:spPr>
          <a:xfrm>
            <a:off x="4427984" y="4257092"/>
            <a:ext cx="1152128" cy="504056"/>
          </a:xfrm>
          <a:prstGeom prst="cube">
            <a:avLst>
              <a:gd name="adj" fmla="val 6234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1</a:t>
            </a:r>
            <a:endParaRPr lang="ko-KR" altLang="en-US" sz="1600" dirty="0">
              <a:solidFill>
                <a:schemeClr val="tx1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cxnSp>
        <p:nvCxnSpPr>
          <p:cNvPr id="6" name="꺾인 연결선 5"/>
          <p:cNvCxnSpPr>
            <a:stCxn id="4" idx="3"/>
            <a:endCxn id="5" idx="3"/>
          </p:cNvCxnSpPr>
          <p:nvPr/>
        </p:nvCxnSpPr>
        <p:spPr>
          <a:xfrm rot="16200000" flipH="1">
            <a:off x="2866691" y="2780928"/>
            <a:ext cx="12700" cy="3960440"/>
          </a:xfrm>
          <a:prstGeom prst="bentConnector3">
            <a:avLst>
              <a:gd name="adj1" fmla="val 3917646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자동차 자동차 세단 형 자동차 아이콘 벡터 일러스트 레이 션 디자인 로열티 무료 사진, 그림, 이미지 그리고 스톡포토그래피. Image  60636323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8" name="Picture 4" descr="자동차 자동차 세단 형 자동차 아이콘 벡터 일러스트 레이 션 디자인 로열티 무료 사진, 그림, 이미지 그리고 스톡포토그래피. Image  6063632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2" b="89926" l="5077" r="90000">
                        <a14:foregroundMark x1="29923" y1="64695" x2="29923" y2="64695"/>
                        <a14:foregroundMark x1="61308" y1="67468" x2="61308" y2="67468"/>
                        <a14:foregroundMark x1="83231" y1="58318" x2="83231" y2="58318"/>
                        <a14:foregroundMark x1="12769" y1="53420" x2="12769" y2="53420"/>
                        <a14:foregroundMark x1="29231" y1="42052" x2="29231" y2="42052"/>
                        <a14:foregroundMark x1="44308" y1="39464" x2="44308" y2="39464"/>
                        <a14:foregroundMark x1="59231" y1="41220" x2="59231" y2="412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582" b="24847"/>
          <a:stretch/>
        </p:blipFill>
        <p:spPr bwMode="auto">
          <a:xfrm>
            <a:off x="3995936" y="2159446"/>
            <a:ext cx="4007820" cy="17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오른쪽 화살표 8"/>
          <p:cNvSpPr/>
          <p:nvPr/>
        </p:nvSpPr>
        <p:spPr>
          <a:xfrm flipH="1">
            <a:off x="892821" y="3019586"/>
            <a:ext cx="3103115" cy="481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주행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174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모서리가 둥근 직사각형 28"/>
          <p:cNvSpPr/>
          <p:nvPr/>
        </p:nvSpPr>
        <p:spPr>
          <a:xfrm>
            <a:off x="4454378" y="2591414"/>
            <a:ext cx="3672408" cy="21962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모니터링</a:t>
            </a:r>
            <a:r>
              <a:rPr lang="en-US" altLang="ko-KR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프로그램</a:t>
            </a:r>
            <a:endParaRPr lang="ko-KR" altLang="en-US" dirty="0">
              <a:solidFill>
                <a:schemeClr val="tx1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14" y="0"/>
            <a:ext cx="9132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설계 방안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 (1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안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)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marL="268288" indent="-179388">
              <a:buFont typeface="Arial" pitchFamily="34" charset="0"/>
              <a:buChar char="•"/>
            </a:pPr>
            <a:r>
              <a:rPr lang="en-US" altLang="ko-KR" dirty="0"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컨트롤러 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2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개 사용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(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지자기센서 포함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)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marL="268288" indent="-179388">
              <a:buFont typeface="Arial" pitchFamily="34" charset="0"/>
              <a:buChar char="•"/>
            </a:pP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컨트롤러 지자기 센서 데이터 송신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모니터링 프로그램에서 수신 후 차량속도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교통량 계산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483768" y="2420888"/>
            <a:ext cx="1132685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컨트롤러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#1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483768" y="4149080"/>
            <a:ext cx="1132685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컨트롤러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#2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539552" y="2420889"/>
            <a:ext cx="1071194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지자기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센서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9552" y="4149080"/>
            <a:ext cx="1071194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지자기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센서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cxnSp>
        <p:nvCxnSpPr>
          <p:cNvPr id="13" name="직선 화살표 연결선 12"/>
          <p:cNvCxnSpPr>
            <a:stCxn id="10" idx="3"/>
            <a:endCxn id="7" idx="1"/>
          </p:cNvCxnSpPr>
          <p:nvPr/>
        </p:nvCxnSpPr>
        <p:spPr>
          <a:xfrm flipV="1">
            <a:off x="1610746" y="2888940"/>
            <a:ext cx="873022" cy="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11" idx="3"/>
            <a:endCxn id="8" idx="1"/>
          </p:cNvCxnSpPr>
          <p:nvPr/>
        </p:nvCxnSpPr>
        <p:spPr>
          <a:xfrm>
            <a:off x="1610746" y="4617132"/>
            <a:ext cx="873022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93358" y="2597017"/>
            <a:ext cx="645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I2C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통신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93358" y="4309152"/>
            <a:ext cx="645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I2C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통신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851130" y="3212976"/>
            <a:ext cx="1029714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데이터 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수신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624120" y="3212976"/>
            <a:ext cx="1245954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차량속도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교통량 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계산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cxnSp>
        <p:nvCxnSpPr>
          <p:cNvPr id="23" name="꺾인 연결선 22"/>
          <p:cNvCxnSpPr>
            <a:stCxn id="7" idx="3"/>
            <a:endCxn id="8" idx="3"/>
          </p:cNvCxnSpPr>
          <p:nvPr/>
        </p:nvCxnSpPr>
        <p:spPr>
          <a:xfrm>
            <a:off x="3616453" y="2888940"/>
            <a:ext cx="12700" cy="172819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endCxn id="20" idx="1"/>
          </p:cNvCxnSpPr>
          <p:nvPr/>
        </p:nvCxnSpPr>
        <p:spPr>
          <a:xfrm>
            <a:off x="3864620" y="3681028"/>
            <a:ext cx="98651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20" idx="3"/>
            <a:endCxn id="21" idx="1"/>
          </p:cNvCxnSpPr>
          <p:nvPr/>
        </p:nvCxnSpPr>
        <p:spPr>
          <a:xfrm>
            <a:off x="5880844" y="3681028"/>
            <a:ext cx="7432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89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모서리가 둥근 직사각형 28"/>
          <p:cNvSpPr/>
          <p:nvPr/>
        </p:nvSpPr>
        <p:spPr>
          <a:xfrm>
            <a:off x="4197666" y="1268760"/>
            <a:ext cx="3672408" cy="29750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컨트롤러 </a:t>
            </a:r>
            <a:r>
              <a:rPr lang="en-US" altLang="ko-KR" dirty="0" smtClean="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</a:rPr>
              <a:t>#2</a:t>
            </a:r>
            <a:endParaRPr lang="ko-KR" altLang="en-US" dirty="0">
              <a:solidFill>
                <a:schemeClr val="tx1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14" y="0"/>
            <a:ext cx="9132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설계 방안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 (2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안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)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marL="268288" indent="-179388">
              <a:buFont typeface="Arial" pitchFamily="34" charset="0"/>
              <a:buChar char="•"/>
            </a:pPr>
            <a:r>
              <a:rPr lang="en-US" altLang="ko-KR" dirty="0"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컨트롤러 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2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개 사용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(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지자기센서 포함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)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marL="268288" indent="-179388">
              <a:buFont typeface="Arial" pitchFamily="34" charset="0"/>
              <a:buChar char="•"/>
            </a:pP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#2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컨트롤러에서 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#1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데이터 수신 후 차량속도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교통량 계산 후 모니터링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483768" y="1892988"/>
            <a:ext cx="1132685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컨트롤러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#1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539552" y="1892989"/>
            <a:ext cx="1071194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지자기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센서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cxnSp>
        <p:nvCxnSpPr>
          <p:cNvPr id="13" name="직선 화살표 연결선 12"/>
          <p:cNvCxnSpPr>
            <a:stCxn id="10" idx="3"/>
            <a:endCxn id="7" idx="1"/>
          </p:cNvCxnSpPr>
          <p:nvPr/>
        </p:nvCxnSpPr>
        <p:spPr>
          <a:xfrm flipV="1">
            <a:off x="1610746" y="2361040"/>
            <a:ext cx="873022" cy="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93358" y="2069117"/>
            <a:ext cx="645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I2C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통신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594418" y="1890322"/>
            <a:ext cx="1029714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데이터 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수신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367408" y="1890322"/>
            <a:ext cx="1245954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차량속도</a:t>
            </a:r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교통량 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계산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cxnSp>
        <p:nvCxnSpPr>
          <p:cNvPr id="28" name="직선 화살표 연결선 27"/>
          <p:cNvCxnSpPr>
            <a:stCxn id="20" idx="3"/>
            <a:endCxn id="21" idx="1"/>
          </p:cNvCxnSpPr>
          <p:nvPr/>
        </p:nvCxnSpPr>
        <p:spPr>
          <a:xfrm>
            <a:off x="5624132" y="2358374"/>
            <a:ext cx="7432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/>
          <p:cNvCxnSpPr>
            <a:stCxn id="7" idx="3"/>
            <a:endCxn id="20" idx="1"/>
          </p:cNvCxnSpPr>
          <p:nvPr/>
        </p:nvCxnSpPr>
        <p:spPr>
          <a:xfrm flipV="1">
            <a:off x="3616453" y="2358374"/>
            <a:ext cx="977965" cy="2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모서리가 둥근 직사각형 18"/>
          <p:cNvSpPr/>
          <p:nvPr/>
        </p:nvSpPr>
        <p:spPr>
          <a:xfrm>
            <a:off x="4594418" y="3034756"/>
            <a:ext cx="1071194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지자기</a:t>
            </a:r>
            <a:endParaRPr lang="en-US" altLang="ko-KR" dirty="0" smtClean="0">
              <a:latin typeface="KoPub돋움체 Bold" pitchFamily="18" charset="-127"/>
              <a:ea typeface="KoPub돋움체 Bold" pitchFamily="18" charset="-127"/>
            </a:endParaRPr>
          </a:p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센서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cxnSp>
        <p:nvCxnSpPr>
          <p:cNvPr id="6" name="꺾인 연결선 5"/>
          <p:cNvCxnSpPr>
            <a:stCxn id="19" idx="3"/>
            <a:endCxn id="21" idx="1"/>
          </p:cNvCxnSpPr>
          <p:nvPr/>
        </p:nvCxnSpPr>
        <p:spPr>
          <a:xfrm flipV="1">
            <a:off x="5665612" y="2358374"/>
            <a:ext cx="701796" cy="114443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/>
          <p:cNvSpPr/>
          <p:nvPr/>
        </p:nvSpPr>
        <p:spPr>
          <a:xfrm>
            <a:off x="5166439" y="5085184"/>
            <a:ext cx="1734861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모니터링 프로그램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16510" y="2867848"/>
            <a:ext cx="645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KoPub돋움체 Bold" pitchFamily="18" charset="-127"/>
                <a:ea typeface="KoPub돋움체 Bold" pitchFamily="18" charset="-127"/>
              </a:rPr>
              <a:t>I2C </a:t>
            </a:r>
            <a:r>
              <a:rPr lang="ko-KR" altLang="en-US" dirty="0" smtClean="0">
                <a:latin typeface="KoPub돋움체 Bold" pitchFamily="18" charset="-127"/>
                <a:ea typeface="KoPub돋움체 Bold" pitchFamily="18" charset="-127"/>
              </a:rPr>
              <a:t>통신</a:t>
            </a:r>
            <a:endParaRPr lang="ko-KR" altLang="en-US" dirty="0">
              <a:latin typeface="KoPub돋움체 Bold" pitchFamily="18" charset="-127"/>
              <a:ea typeface="KoPub돋움체 Bold" pitchFamily="18" charset="-127"/>
            </a:endParaRPr>
          </a:p>
        </p:txBody>
      </p:sp>
      <p:cxnSp>
        <p:nvCxnSpPr>
          <p:cNvPr id="12" name="직선 화살표 연결선 11"/>
          <p:cNvCxnSpPr>
            <a:stCxn id="29" idx="2"/>
            <a:endCxn id="22" idx="0"/>
          </p:cNvCxnSpPr>
          <p:nvPr/>
        </p:nvCxnSpPr>
        <p:spPr>
          <a:xfrm>
            <a:off x="6033870" y="4243852"/>
            <a:ext cx="0" cy="841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978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715688"/>
              </p:ext>
            </p:extLst>
          </p:nvPr>
        </p:nvGraphicFramePr>
        <p:xfrm>
          <a:off x="251520" y="908720"/>
          <a:ext cx="8352927" cy="545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/>
                <a:gridCol w="3528392"/>
                <a:gridCol w="3744415"/>
              </a:tblGrid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구 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안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안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기능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dirty="0" smtClean="0"/>
                        <a:t>각 컨트롤러가 개별적으로 </a:t>
                      </a:r>
                      <a:r>
                        <a:rPr lang="en-US" altLang="ko-KR" dirty="0" smtClean="0"/>
                        <a:t>PC</a:t>
                      </a:r>
                      <a:r>
                        <a:rPr lang="ko-KR" altLang="en-US" dirty="0" smtClean="0"/>
                        <a:t>에</a:t>
                      </a:r>
                      <a:r>
                        <a:rPr lang="en-US" altLang="ko-KR" baseline="0" dirty="0" smtClean="0"/>
                        <a:t> RS-232</a:t>
                      </a:r>
                      <a:r>
                        <a:rPr lang="ko-KR" altLang="en-US" baseline="0" dirty="0" smtClean="0"/>
                        <a:t>로 연결되어 측정 데이터 전송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컨트롤러</a:t>
                      </a:r>
                      <a:r>
                        <a:rPr lang="ko-KR" altLang="en-US" baseline="0" dirty="0" smtClean="0"/>
                        <a:t> 판단 수행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2016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장점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dirty="0" smtClean="0"/>
                        <a:t>컨트롤러 </a:t>
                      </a:r>
                      <a:r>
                        <a:rPr lang="ko-KR" altLang="en-US" dirty="0" err="1" smtClean="0"/>
                        <a:t>펌웨어</a:t>
                      </a:r>
                      <a:r>
                        <a:rPr lang="ko-KR" altLang="en-US" dirty="0" smtClean="0"/>
                        <a:t> 단순 </a:t>
                      </a:r>
                      <a:endParaRPr lang="en-US" altLang="ko-KR" dirty="0" smtClean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dirty="0" smtClean="0"/>
                        <a:t>디버깅 및 로그</a:t>
                      </a:r>
                      <a:r>
                        <a:rPr lang="ko-KR" altLang="en-US" baseline="0" dirty="0" smtClean="0"/>
                        <a:t> 분석 용이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dirty="0" smtClean="0"/>
                        <a:t>컨트롤</a:t>
                      </a:r>
                      <a:r>
                        <a:rPr lang="ko-KR" altLang="en-US" baseline="0" dirty="0" smtClean="0"/>
                        <a:t> 판단 수행으로 모니터링 프로그램 단순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baseline="0" dirty="0" smtClean="0"/>
                        <a:t>시간차 신뢰도 상승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baseline="0" dirty="0" smtClean="0"/>
                        <a:t>무선통신 적용 설치 용이</a:t>
                      </a:r>
                      <a:endParaRPr lang="en-US" altLang="ko-KR" baseline="0" dirty="0" smtClean="0"/>
                    </a:p>
                  </a:txBody>
                  <a:tcPr/>
                </a:tc>
              </a:tr>
              <a:tr h="2016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단점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dirty="0" smtClean="0"/>
                        <a:t>지속적인 컨트롤러 간 시간 동기화 중요</a:t>
                      </a:r>
                      <a:endParaRPr lang="en-US" altLang="ko-KR" dirty="0" smtClean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dirty="0" smtClean="0"/>
                        <a:t>PC</a:t>
                      </a:r>
                      <a:r>
                        <a:rPr lang="ko-KR" altLang="en-US" dirty="0" smtClean="0"/>
                        <a:t>에서 </a:t>
                      </a:r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개</a:t>
                      </a:r>
                      <a:r>
                        <a:rPr lang="ko-KR" altLang="en-US" baseline="0" dirty="0" smtClean="0"/>
                        <a:t> 이상 포트 필요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dirty="0" smtClean="0"/>
                        <a:t>빠른 계산 처리 속도 필요</a:t>
                      </a:r>
                      <a:endParaRPr lang="en-US" altLang="ko-KR" dirty="0" smtClean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dirty="0" smtClean="0"/>
                        <a:t>정확한 알고리즘을 위한 디버깅 필요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24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248</Words>
  <Application>Microsoft Office PowerPoint</Application>
  <PresentationFormat>화면 슬라이드 쇼(4:3)</PresentationFormat>
  <Paragraphs>71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</cp:revision>
  <dcterms:created xsi:type="dcterms:W3CDTF">2025-03-14T02:15:11Z</dcterms:created>
  <dcterms:modified xsi:type="dcterms:W3CDTF">2025-06-16T08:01:32Z</dcterms:modified>
</cp:coreProperties>
</file>